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14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89720" y="0"/>
            <a:ext cx="164592" cy="6858000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1051560"/>
            <a:ext cx="914400" cy="475488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7120" y="1828800"/>
            <a:ext cx="292608" cy="3474720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21792"/>
            <a:ext cx="7132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>
                <a:solidFill>
                  <a:srgbClr val="30D6B8"/>
                </a:solidFill>
                <a:latin typeface="Aptos"/>
              </a:rPr>
              <a:t>KUBERNETES  /  MONGODB  /  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7498079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F2F6FC"/>
                </a:solidFill>
                <a:latin typeface="Aptos"/>
              </a:rPr>
              <a:t>MongoDB
Helm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07792"/>
            <a:ext cx="713232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A5B4C9"/>
                </a:solidFill>
                <a:latin typeface="Aptos"/>
              </a:rPr>
              <a:t>Architektur, Betriebsmodell und Grenzen
Technische Fachsession für Kubernetes- und MongoDB-Erfahrene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160520"/>
            <a:ext cx="7269480" cy="1234440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379976"/>
            <a:ext cx="20574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30D6B8"/>
                </a:solidFill>
              </a:rPr>
              <a:t>20:00</a:t>
            </a:r>
          </a:p>
          <a:p>
            <a:pPr>
              <a:defRPr sz="800">
                <a:solidFill>
                  <a:srgbClr val="A5B4C9"/>
                </a:solidFill>
              </a:defRPr>
            </a:pPr>
            <a:r>
              <a:t>GESAMT  •  TITEL 00:45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52544"/>
            <a:ext cx="452628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0">
                <a:solidFill>
                  <a:srgbClr val="F2F6FC"/>
                </a:solidFill>
                <a:latin typeface="Aptos"/>
              </a:rPr>
              <a:t>StatefulSet · TLS · Auth · Backup/Restore
Ressourcenbudget · Vault-Schnittstelle · Prüfstand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245352"/>
            <a:ext cx="7132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A5B4C9"/>
                </a:solidFill>
                <a:latin typeface="Aptos"/>
              </a:rPr>
              <a:t>Technische Einordnung des Repository-Stands  •  05.10.2026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5074920"/>
            <a:ext cx="205740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F2F6FC"/>
                </a:solidFill>
                <a:latin typeface="Aptos"/>
              </a:rP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5577840"/>
            <a:ext cx="22402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>
                <a:solidFill>
                  <a:srgbClr val="30D6B8"/>
                </a:solidFill>
                <a:latin typeface="Aptos"/>
              </a:rPr>
              <a:t>CHART  /  0.3.1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Systemgrenze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README.md • Chart.yaml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01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Was das Chart bereitstellt – und was es voraussetzt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Ressourcen, keine Operator-Magie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 rendert StatefulSet, headless Service, Hooks, CronJob und PVC.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Reconciliation erfolgt durch Kubernetes-Controller; kein eigener Operator im Chart.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Konfiguration ist deklarativ, aber Änderungen sind nicht automatisch sicher.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Bewusste Voraussetzungen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Kubernetes, Helm, StorageClass/PV und passende Image-Erreichbarkeit.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TLS- und Keyfile-Secrets müssen bereitstehen – direkt oder über VSO.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MongoDB-Admin-Passwort kommt als lokale Datei via --set-file.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Daten- und Verfügbarkeitsmodell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Standard: drei Replica-Set-Mitglieder, je ein Daten-PVC.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Kubernetes platziert Pods; Topology Spread ist eine Präferenz.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Mehr Pods bedeuten nicht automatisch unabhängige Failure Domains.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Einordnung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Chart ist ein anpassbares Deployment-Grundgerüst, kein Managed MongoDB.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Kein Auto-Scaling, keine automatische Replica-Set-Skalierung.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Operations, Zertifikate, Storage und Disaster Recovery bleiben Plattformaufgaben.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Ressourcenbild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templates/*.yaml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02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Ein Helm-Release erzeugt mehrere zusammenwirkende Pfade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240280" cy="1133856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1965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5AA6FF"/>
                </a:solidFill>
                <a:latin typeface="Aptos"/>
              </a:rPr>
              <a:t>Helm /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05456"/>
            <a:ext cx="1965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F2F6FC"/>
                </a:solidFill>
                <a:latin typeface="Aptos"/>
              </a:rPr>
              <a:t>chart + overrides
file-backed admin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993392"/>
            <a:ext cx="2743200" cy="1133856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139696"/>
            <a:ext cx="24688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30D6B8"/>
                </a:solidFill>
                <a:latin typeface="Aptos"/>
              </a:rPr>
              <a:t>StatefulSet ×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505456"/>
            <a:ext cx="246888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F2F6FC"/>
                </a:solidFill>
                <a:latin typeface="Aptos"/>
              </a:rPr>
              <a:t>mongod + PVC je ordinal
TLS-init + keyfile-init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1993392"/>
            <a:ext cx="2194560" cy="1133856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2139696"/>
            <a:ext cx="19202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5AA6FF"/>
                </a:solidFill>
                <a:latin typeface="Aptos"/>
              </a:rPr>
              <a:t>Headless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2505456"/>
            <a:ext cx="1920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F2F6FC"/>
                </a:solidFill>
                <a:latin typeface="Aptos"/>
              </a:rPr>
              <a:t>stable DNS seeds
Port 27017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53728" y="1993392"/>
            <a:ext cx="2212848" cy="1133856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139696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FFB954"/>
                </a:solidFill>
                <a:latin typeface="Aptos"/>
              </a:rPr>
              <a:t>Replica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505456"/>
            <a:ext cx="193852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F2F6FC"/>
                </a:solidFill>
                <a:latin typeface="Aptos"/>
              </a:rPr>
              <a:t>Primary / Secondary
rs0 (default)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80" y="2560320"/>
            <a:ext cx="384048" cy="0"/>
          </a:xfrm>
          <a:prstGeom prst="line">
            <a:avLst/>
          </a:prstGeom>
          <a:ln w="27940">
            <a:solidFill>
              <a:srgbClr val="30D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44768" y="2560320"/>
            <a:ext cx="402336" cy="0"/>
          </a:xfrm>
          <a:prstGeom prst="line">
            <a:avLst/>
          </a:prstGeom>
          <a:ln w="27940">
            <a:solidFill>
              <a:srgbClr val="30D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51392" y="2560320"/>
            <a:ext cx="347472" cy="0"/>
          </a:xfrm>
          <a:prstGeom prst="line">
            <a:avLst/>
          </a:prstGeom>
          <a:ln w="27940">
            <a:solidFill>
              <a:srgbClr val="30D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" y="3703320"/>
            <a:ext cx="3456432" cy="153619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867911"/>
            <a:ext cx="41148" cy="1207007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40480"/>
            <a:ext cx="3072384" cy="130759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Bootstrap Hook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post-install / post-upgrade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wait → ping → rs.initiate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703320"/>
            <a:ext cx="3456432" cy="153619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9975" y="3867911"/>
            <a:ext cx="41148" cy="1207007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5" y="3840480"/>
            <a:ext cx="3072384" cy="130759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Backup CronJob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mongodump + oplog + gzip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20 GiB PVC, Retention 30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703320"/>
            <a:ext cx="3456432" cy="153619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8431" y="3867911"/>
            <a:ext cx="41148" cy="1207007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3840480"/>
            <a:ext cx="3072384" cy="130759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Restore Job (optional)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database- oder full-restore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--drop: destruktiv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532120"/>
            <a:ext cx="1088136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A5B4C9"/>
                </a:solidFill>
                <a:latin typeface="Aptos"/>
              </a:rPr>
              <a:t>Secrets außerhalb des Passwortpfads: TLS-Zertifikate und internes Keyfile als Kubernetes-Secrets; VSO kann diese synchronisieren.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Identität und Persistenz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statefulset.yaml • headless-service.yaml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03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StatefulSet + stabile DNS-Namen + PVC je ordinalem 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Stabile Pod-Identität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mongodb-0 … mongodb-(N-1) durch StatefulSet-Ordinalität.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Headless Service publiziert stabile DNS-Adressen.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publishNotReadyAddresses unterstützt frühe Replica-Set-Kommunikation.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Persistente Daten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volumeClaimTemplates erzeugt pro Pod ein eigenes Daten-PVC.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Standard: 10 GiB je Mitglied; StorageClass ist konfigurierbar.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PVC-Lebenszyklus und Storage-Failure-Domain sind clusterabhängig.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Replica Set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Post-Install-/Post-Upgrade-Hook initialisiert rs.initiate().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Member-Hosts werden aus Release, Namespace und Anzahl gebildet.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Bootstrap prüft erst Verbindung und Status, initialisiert bei Bedarf.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Skalierungsgrenze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replicaSet.members ist kein sicherer Online-Skalierungsknopf.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TLS-Secrets müssen für jedes zusätzliche Ordinal existieren.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Replica-Set-Konfiguration kontrolliert ändern; StatefulSet-Selector bleibt stabil.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Anmeldung und Bootstrap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statefulset.yaml • bootstrap-job.yaml • values.yaml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04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MongoDB-Admin-Zugang und interne Replica-Set-Auth sind getrennt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Admin-Passwortquelle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certs/admin-password.txt wird lokal von Helm mit --set-file geladen.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Chart nutzt auth.username/auth.password als Container-Umgebungswerte.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Für das Admin-Passwort gibt es keinen secretKeyRef im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Sicherheitskonsequenz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Wert landet im Helm-Release und im Pod-Manifest.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RBAC auf Helm-Releases, Pods und Ausgaben entsprechend begrenzen.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Datei nicht committen; Chart ignoriert certs/ via .gitignore.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First boot vs. Upgrade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MONGO_INITDB_ROOT_* initialisiert den Benutzer bei leerem Datenverzeichnis.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Helm-Wert ändern rotiert kein vorhandenes MongoDB-Konto.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Beim Upgrade den aktuell gültigen DB-Wert übergeben; Rotation in MongoDB durchführen.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Interne Authentifizierung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Gemeinsame Replica-Set-Keyfile bleibt in mongodb-internal-auth.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Init-Container kopiert sie mit MongoDB-tauglichem Eigentümer/Modus.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Bootstrap-Job authentifiziert sich per TLS gegen Member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TLS pro 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statefulset.yaml • tls.memberSecrets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05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Zertifikat auswählen, für mongod vorbereiten, TLS erzwingen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Input je Pod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tls.memberSecrets ordnet jedem ordinal sein Kubernetes-Secret zu.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Secret benötigt tls.crt, tls.key und ca.crt.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Subject Alternative Names müssen Release-/Service-DNS abdecken.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Init-Container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Wählt anhand des Pod-Ordinal das Zertifikat.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Baut server.pem aus Zertifikat und Private Key; setzt Owner 999, Modus 0600.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Kopiert CA-Datei in ein gemeinsames EmptyDir für mongod.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MongoDB-Modus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tlsMode=requireTLS; CA und Certificate-Key-File explizit gesetzt.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Client-Zertifikate sind optional (tlsAllowConnectionsWithoutCertificates).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Verschlüsselung ist aktiv, aber kein erzwungenes mTLS für Clients.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Grenzen im Betrieb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TLS-Secret-Mounts benötigen korrekt provisionierte Secrets.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Vault-Beispiel fordert Rollout bei Zertifikatsänderung an.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Zertifikatsrotation und SAN-Abdeckung vor Produktivbetrieb testen.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Ressourcen und Platzierung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values.yaml • statefulset.yaml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06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Gesamtbudget wird auf MongoDB-Hauptcontainer verteilt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Standardbudget für drei Pods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Requests gesamt: 750m CPU / 1536 MiB RAM.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Pro Pod: 250m CPU / 512 MiB RAM.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Limits gesamt: 3000m CPU / 3072 MiB; je Pod 1000m / 1024 MiB.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Validierungsregeln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Jedes Budget muss mindestens Mitgliederzahl betragen.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Requests dürfen die Limits nicht überschreiten.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Ganzzahldivision: nicht teilbare Reste bleiben ungenutzt.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Platzierung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nodeSelector, tolerations und affinity sind konfigurierbar.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Topology Spread: standardmäßig hostname, ScheduleAnyway.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Steuert keine Nodes und garantiert keine harte Verteilung.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Alternative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capacityAllocation.enabled=false deaktiviert Budgetteilung.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Dann gelten resources.requests/limits unverändert je Pod.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Jobs und Init-Container sind nicht im Gesamtbudget enthalten.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Backup-Pfad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backup-cronjob.yaml • backup-pvc.yaml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07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CronJob → mongodump → komprimiertes Archiv auf separatem PVC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Zeitplan und Parallelität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Standard: täglich 03:00 Europe/Zurich.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concurrencyPolicy=Forbid verhindert überlappende Backup-Jobs.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Job-Historie: drei erfolgreiche, ein fehlgeschlagener Lauf.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Konsistenz und Format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mongodump mit --oplog, --archive und --gzip.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Verbindet über Replica-Set-Seeds, TLS-CA und Admin-Credentials.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Archivname enthält UTC-Zeitstempel.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Retention und Volumen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Aufbewahrung standardmäßig 30 Tage; alte Dateien werden vor Dump entfernt.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Separates PVC: 20 GiB Standard, Größe/StorageClass konfigurierbar.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Backup-PVC hat helm.sh/resource-policy: keep.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Was das nicht ist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 liegt im selben Cluster/Storage-Kontext.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Kein Offsite-Kopieren, Verschlüsselungs-/Immutability-Konzept oder Restore-Test-Automation.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Disaster Recovery braucht externe Kopie und getestetes RPO/RTO.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Restore-Pfad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02:00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restore-job.yaml • values.yaml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08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Einmaliger Job – gezielt pro Datenbank oder vollständig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Zwei Modi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Datenbankmodus: --nsInclude=&lt;db&gt;.* und --drop.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Vollmodus: --drop plus --oplogReplay.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Restore ist standardmäßig deaktiviert.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Template-Guards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Archivdateiname erforderlich; keine Pfade oder .. erlaubt.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Genau ein Ziel: Datenbank ODER fullRestore=true.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Ungültige Kombinationen brechen das Rendering mit Fehler ab.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Laufzeitverhalten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Restore-Job liest Archiv read-only aus Backup-PVC.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Prüft beim Start, ob die Datei wirklich existiert.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Verbindet mit Replica Set unter TLS; Job schlägt bei Fehler ohne Retry fehl.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Operatives Risiko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--drop überschreibt vorhandene Daten im Ziel.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Zuerst Archiv, Namespace, Release und Zielsystem kontrollieren.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Restore möglichst in isolierter Umgebung validieren.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Konfiguration und Lebenszyklus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values.yaml •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09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Values steuern Identität, Storage, Security, Ressourcen und Jobs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Wichtige Value-Gruppen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replicaSet, image, tls, internalAuth, auth.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storage, capacityAllocation/resources, Scheduling.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backup, restore, service.port und Namen.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Installieren / Vorschau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 lint ./mongodb-chart --set-file auth.password=certs/admin-password.txt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 template ... --set-file auth.password=... vor Apply rendern.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--set-file vermeidet Passwortliteral im Kommando, nicht im Helm-Release.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Upgrade-Verhalten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Hook läuft nach Install und Upgrade; Hook-Erfolg löscht Job.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Restore kann separat mit --no-hooks ausgeführt werden.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Bei bestehender DB ist das Admin-Passwort in MongoDB maßgeblich.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Änderungsdisziplin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Chart-Version bei Templateänderung erhöhen.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PVC-/StatefulSet-Änderungen und Replica-Set-Skalierung separat planen.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Render-Diff plus kontrolliertes Upgrade statt blindem Apply.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Vault-Integration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vault/vso-mongodb.yaml • mongodb-read.hcl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10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VSO verwaltet Keyfile und TLS – nicht das MongoDB-Admin-Passwort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Was Vault übernimmt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VSO synchronisiert mongodb-internal-auth/keyfile.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Je Pod ein TLS-Secret mit Zertifikat, Key und CA.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TLS-Ressourcen fordern StatefulSet-Rollout bei Änderungen 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Was bewusst draußen bleibt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Kein mongodb-auth Passwort-Secret und kein Vault-Pfad dafür.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Admin-Passwort stammt weiterhin aus lokaler Datei via Helm.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Das ist eine Umgehung der Secret-API, keine geheime Helm-Wertablage.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Berechtigungsgrenzen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Policy ist auf interne Auth und TLS-Pfade eingeschränkt.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Kubernetes-Secrets existieren weiterhin für Keyfile/TLS.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Vault Dev-Modus mit In-Memory-Speicher ist nur Demo.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Migration bestehender Installation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Zuerst Release mit aktuell gültigem DB-Passwort upgraden.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Policy aktualisieren; alten VSO-Passwort-Synchronizer entfernen.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mongodb-auth-Secret erst nach Nutzungsprüfung löschen.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Prüfstand und offene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helm lint • helm template • kubectl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11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Template-Verhalten geprüft; Cluster-Laufzeit aktuell nicht erreichbar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Erfolgreich geprüft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 lint: Chart valide.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Default-Manifeste YAML-parsbar; Sonderzeichen im File-Passwort korrekt gequotet.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Single-member, Backup-off, beide Restore-Modi gerendert.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Negativfälle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Neun fehlerhafte Konfigurationen abgelehnt.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Mitgliederzahl, Auth/TLS, Ressourcenbudget, fehlendes TLS-Secret geprüft.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Ungültiger Restore-Pfad/Zielkombination und fehlendes Passwort abgelehnt.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Nicht ausgeführt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kubectl cluster-info: lokaler API-Endpunkt nicht erreichbar (Connection refused).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Keine install-/upgrade-/rollout- oder MongoDB-Abfrage im Cluster.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Backup-/Restore-Datenpfad nicht end-to-end getestet.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Nächste Integrationstests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Provisionierte TLS/Keyfile-Secrets und StorageClass bereitstellen.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Replica-Set-Wahl, Neustart, Zertifikatsrotation und Passwort-Rotation testen.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 → isolierter Restore → Datenintegrität und RPO/RTO messen.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138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00" b="1">
                <a:solidFill>
                  <a:srgbClr val="30D6B8"/>
                </a:solidFill>
                <a:latin typeface="Aptos"/>
              </a:rPr>
              <a:t>FACHSESSION  /  MONGODB HELM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99212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700" b="1">
                <a:solidFill>
                  <a:srgbClr val="F2F6FC"/>
                </a:solidFill>
                <a:latin typeface="Aptos"/>
              </a:rPr>
              <a:t>Kernaussagen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1008" y="365760"/>
            <a:ext cx="1225296" cy="475488"/>
          </a:xfrm>
          <a:prstGeom prst="roundRect">
            <a:avLst/>
          </a:prstGeom>
          <a:solidFill>
            <a:srgbClr val="19253B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1592" y="466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30D6B8"/>
                </a:solidFill>
                <a:latin typeface="Aptos"/>
              </a:rPr>
              <a:t>00:30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1018520" cy="22860"/>
          </a:xfrm>
          <a:prstGeom prst="rect">
            <a:avLst/>
          </a:prstGeom>
          <a:solidFill>
            <a:srgbClr val="19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99669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0">
                <a:solidFill>
                  <a:srgbClr val="A5B4C9"/>
                </a:solidFill>
                <a:latin typeface="Aptos"/>
              </a:rPr>
              <a:t>README.md • Betriebsgrenzen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1430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A5B4C9"/>
                </a:solidFill>
                <a:latin typeface="Aptos"/>
              </a:rPr>
              <a:t>12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A5B4C9"/>
                </a:solidFill>
                <a:latin typeface="Aptos"/>
              </a:rPr>
              <a:t>Das Chart liefert eine solide Basis – Zuverlässigkeit entsteht im Betrieb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75104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Drei Dinge mitnehmen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StatefulSet + PVCs + TLS + Keyfile + Bootstrap bilden den Kern.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Backup und Restore sind eingebaut, aber Offsite-DR ist externe Verantwortung.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Helm-Admin-Passwort ist im Release/Manifest sichtbar; RBAC entsprechend härten.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10512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75104"/>
            <a:ext cx="41148" cy="1572768"/>
          </a:xfrm>
          <a:prstGeom prst="rect">
            <a:avLst/>
          </a:prstGeom>
          <a:solidFill>
            <a:srgbClr val="5A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5AA6FF"/>
                </a:solidFill>
                <a:latin typeface="Aptos"/>
              </a:rPr>
              <a:t>Vor Produktion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Cluster-End-to-End-Tests inkl. Restore und Zertifikatsrotation.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Failure Domains, Storage, Offsite-Backups, Monitoring und RBAC validieren.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Mitgliederzahl/Passwortänderung sind geplante DB-Operationen, keine reinen Value-Tweaks.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7"/>
            <a:ext cx="41148" cy="1572768"/>
          </a:xfrm>
          <a:prstGeom prst="rect">
            <a:avLst/>
          </a:prstGeom>
          <a:solidFill>
            <a:srgbClr val="FF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FFB954"/>
                </a:solidFill>
                <a:latin typeface="Aptos"/>
              </a:rPr>
              <a:t>Diskussion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Welches RPO/RTO muss das Deployment erfüllen?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Welche Secrets dürfen laut Plattformrichtlinie in Helm-Releases liegen?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Welche Failure Domains und Storage Guarantees sind verfügbar?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68496"/>
            <a:ext cx="5285232" cy="1901952"/>
          </a:xfrm>
          <a:prstGeom prst="roundRect">
            <a:avLst/>
          </a:prstGeom>
          <a:solidFill>
            <a:srgbClr val="141D31"/>
          </a:solidFill>
          <a:ln>
            <a:solidFill>
              <a:srgbClr val="19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33087"/>
            <a:ext cx="41148" cy="1572768"/>
          </a:xfrm>
          <a:prstGeom prst="rect">
            <a:avLst/>
          </a:prstGeom>
          <a:solidFill>
            <a:srgbClr val="30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05656"/>
            <a:ext cx="4901184" cy="167335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6B8"/>
                </a:solidFill>
                <a:latin typeface="Aptos"/>
              </a:rPr>
              <a:t>Zeitbudget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12 Inhaltsfolien + Titelfolie.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Sprechzeiten summieren sich auf exakt 20:00.</a:t>
            </a:r>
          </a:p>
          <a:p>
            <a:pPr marL="0" indent="0">
              <a:spcAft>
                <a:spcPts val="400"/>
              </a:spcAft>
              <a:defRPr sz="1240">
                <a:solidFill>
                  <a:srgbClr val="F2F6FC"/>
                </a:solidFill>
                <a:latin typeface="Aptos"/>
              </a:defRPr>
            </a:pPr>
            <a:r>
              <a:t>•  Q&amp;A nach der Session separat einplanen.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Helm Chart – technische Fachsession (20 Minuten)</dc:title>
  <dc:subject>Architektur, Betriebsmodell, Features und Grenzen des MongoDB Helm Charts</dc:subject>
  <dc:creator>OpenAI</dc:creator>
  <cp:keywords>Kubernetes, Helm, MongoDB, Replica Set, TLS, Backup, Restore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